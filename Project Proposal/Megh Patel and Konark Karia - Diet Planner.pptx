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6" r:id="rId7"/>
    <p:sldId id="267" r:id="rId8"/>
    <p:sldId id="268" r:id="rId9"/>
    <p:sldId id="265" r:id="rId10"/>
    <p:sldId id="270" r:id="rId11"/>
    <p:sldId id="271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9412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D4631-95F0-412E-A37C-E85129FC1DB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DEC13-0AD3-4DE7-86F8-D5542CD0D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5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 everyone, we’re Megh Patel and Konark Karia.</a:t>
            </a:r>
          </a:p>
          <a:p>
            <a:endParaRPr lang="en-US" dirty="0"/>
          </a:p>
          <a:p>
            <a:r>
              <a:rPr lang="en-US" dirty="0"/>
              <a:t>Today, we’ll be presenting our project titled </a:t>
            </a:r>
            <a:r>
              <a:rPr lang="en-US" b="1" dirty="0"/>
              <a:t>“Diet Planner Based on BMI.”</a:t>
            </a:r>
          </a:p>
          <a:p>
            <a:endParaRPr lang="en-US" dirty="0"/>
          </a:p>
          <a:p>
            <a:r>
              <a:rPr lang="en-US" dirty="0"/>
              <a:t>Our project focuses on using Artificial Intelligence to recommend personalized diet plans for individuals based on their BMI and other health factors.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6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96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38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29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8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3BC5-D11D-66E3-5AF4-9E8030DA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55E50-97FF-C6BC-5901-09CBC8D33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A2E27-9F1C-A3F5-52E1-B53831259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A0206-EC53-D448-25FD-2744DD75B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97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1CD6-02CF-94AD-12B2-C61F07EB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44A8D-CE39-A2F5-042E-7834C534B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6EC43-80BF-029F-92F3-39BDF7304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F1A18-D52A-51D6-3C03-AC7EE6745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6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992F8-7CD6-9989-AE71-7761EE84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F71E6-EE6B-F277-355D-A7C887F01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D4493-ADF9-DB5F-5A45-63966BF49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C0F03-1890-D647-BD3C-7A657EFD2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51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19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B935-73EF-0517-7274-66201F81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C4055-3668-0EA1-4B6F-DD4BF32F5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BA200-7261-EE5C-F82E-7A234AB40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01FD1-5B04-DCCD-93BB-A1D1FACD5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46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A60C-0A4E-EA00-B836-AE697B23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3FAFD-8708-96AA-AA07-CD860159B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56D7F-91C9-58A4-A93A-0E41A9701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D71E6-7530-25D7-49E1-FBFE0C666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DEC13-0AD3-4DE7-86F8-D5542CD0D6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5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31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0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01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1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2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7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5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4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9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7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2526224-12A9-4C34-BBF7-36954811373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18DFA29-FD9A-4AB5-A77E-BD3DBDC75A6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61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36005-EA57-1275-1B1D-159B21706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532888"/>
            <a:ext cx="10058400" cy="896112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Montserrat" pitchFamily="2" charset="0"/>
              </a:rPr>
              <a:t>Diet Planner Based on BMI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1AFE4-81FB-3C48-A88E-C29C852F4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844486"/>
            <a:ext cx="10058400" cy="1143000"/>
          </a:xfrm>
        </p:spPr>
        <p:txBody>
          <a:bodyPr/>
          <a:lstStyle/>
          <a:p>
            <a:pPr algn="ctr"/>
            <a:r>
              <a:rPr lang="en-US" b="1" cap="none" dirty="0">
                <a:solidFill>
                  <a:schemeClr val="tx1"/>
                </a:solidFill>
              </a:rPr>
              <a:t>Megh Patel </a:t>
            </a:r>
            <a:r>
              <a:rPr lang="en-US" cap="none" dirty="0">
                <a:solidFill>
                  <a:schemeClr val="tx1"/>
                </a:solidFill>
              </a:rPr>
              <a:t>[AU2544020]</a:t>
            </a:r>
          </a:p>
          <a:p>
            <a:pPr algn="ctr"/>
            <a:r>
              <a:rPr lang="en-US" b="1" cap="none" dirty="0">
                <a:solidFill>
                  <a:schemeClr val="tx1"/>
                </a:solidFill>
              </a:rPr>
              <a:t>Konark Karia </a:t>
            </a:r>
            <a:r>
              <a:rPr lang="en-US" cap="none" dirty="0">
                <a:solidFill>
                  <a:schemeClr val="tx1"/>
                </a:solidFill>
              </a:rPr>
              <a:t>[AU2544011]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09410-79A4-7487-6EB7-AF9084025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445" y="454817"/>
            <a:ext cx="3569110" cy="155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648A-D549-7F56-5AB6-9CB99064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/>
          <a:lstStyle/>
          <a:p>
            <a:r>
              <a:rPr lang="en-US" b="1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6F764-BC21-7579-0843-DFB0CD80C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Our project aims to create an </a:t>
            </a:r>
            <a:r>
              <a:rPr lang="en-US" sz="2400" b="1" dirty="0"/>
              <a:t>AI-powered diet recommendation system</a:t>
            </a:r>
            <a:r>
              <a:rPr lang="en-US" sz="2400" dirty="0"/>
              <a:t> that suggests a suitable diet plan for individuals based on their </a:t>
            </a:r>
            <a:r>
              <a:rPr lang="en-US" sz="2400" b="1" dirty="0"/>
              <a:t>BMI, health condition, and lifestyle</a:t>
            </a:r>
            <a:r>
              <a:rPr lang="en-US" sz="24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idea is to help people maintain a healthy lifestyle by providing </a:t>
            </a:r>
            <a:r>
              <a:rPr lang="en-US" sz="2400" b="1" dirty="0"/>
              <a:t>personalized diet advice</a:t>
            </a:r>
            <a:r>
              <a:rPr lang="en-US" sz="2400" dirty="0"/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We used a dataset containing details like </a:t>
            </a:r>
            <a:r>
              <a:rPr lang="en-US" sz="2400" b="1" dirty="0"/>
              <a:t>age, weight, height, diseases, cholesterol, and physical activity</a:t>
            </a:r>
            <a:r>
              <a:rPr lang="en-US" sz="2400" dirty="0"/>
              <a:t> to train a machine learning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Based on this data, the system recommends </a:t>
            </a:r>
            <a:r>
              <a:rPr lang="en-US" sz="2400" b="1" dirty="0"/>
              <a:t>the number of calories one should take,</a:t>
            </a:r>
            <a:r>
              <a:rPr lang="en-US" sz="2400" dirty="0"/>
              <a:t> depending on a person’s health status.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This makes it easier for users to choose the </a:t>
            </a:r>
            <a:r>
              <a:rPr lang="en-US" sz="2400" b="1" dirty="0"/>
              <a:t>right food plan</a:t>
            </a:r>
            <a:r>
              <a:rPr lang="en-US" sz="2400" dirty="0"/>
              <a:t> that matches their body needs and supports better health management.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27CED-BE80-F423-DE82-FEAF4238F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C59369-B2D5-69F7-DF0B-27BB4877B34D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1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9C08-D671-91F2-129F-CE18354A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CF43-2AF6-C617-B0DB-F2234132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/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9C861-9E34-D6A0-5344-74656A3D6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/>
              <a:t>“Diet Recommendation System Using Machine Learning”</a:t>
            </a:r>
          </a:p>
          <a:p>
            <a:pPr marL="201168" lvl="1" indent="0" algn="just">
              <a:buNone/>
            </a:pPr>
            <a:r>
              <a:rPr lang="en-US" sz="2400" b="1" dirty="0"/>
              <a:t>    </a:t>
            </a:r>
            <a:r>
              <a:rPr lang="en-US" b="1" dirty="0"/>
              <a:t>[Reema </a:t>
            </a:r>
            <a:r>
              <a:rPr lang="en-US" b="1" dirty="0" err="1"/>
              <a:t>Golagana</a:t>
            </a:r>
            <a:r>
              <a:rPr lang="en-US" b="1" dirty="0"/>
              <a:t>, V. Sravani, T. Mohan Reddy][2023]</a:t>
            </a:r>
            <a:endParaRPr lang="en-US" sz="2400" dirty="0"/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2000" dirty="0"/>
              <a:t>The paper presents a smart system that suggests personalized diet plans using algorithms like Random Forest, K-Means, and LSTM.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2000" dirty="0"/>
              <a:t>It considers a person’s details such as age, BMI, and food preferences to create healthy meal suggestions using data from the USDA nutrition database.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2000" dirty="0"/>
              <a:t>The results showed that the LSTM model gave more accurate diet recommendations, making it better for creating customized meal plans.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2928E-7C87-C7B1-8C78-A11C25A13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211DE-19E5-0F4A-9847-610047086F61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9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AC193-E5AA-1762-53C2-B284D582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ED80-C052-48A6-8E10-F826A488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/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CC46-F5DC-F67D-ABE2-BB63E5EE8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/>
              <a:t>“Artificial Intelligence and Machine Learning Technologies for Personalized Nutrition: A Review”</a:t>
            </a:r>
          </a:p>
          <a:p>
            <a:pPr marL="201168" lvl="1" indent="0" algn="just">
              <a:buNone/>
            </a:pPr>
            <a:r>
              <a:rPr lang="en-US" sz="2400" b="1" dirty="0"/>
              <a:t>   </a:t>
            </a:r>
            <a:r>
              <a:rPr lang="en-US" b="1" dirty="0"/>
              <a:t>[Dimitris Tsolakidis, Lazaros P. </a:t>
            </a:r>
            <a:r>
              <a:rPr lang="en-US" b="1" dirty="0" err="1"/>
              <a:t>Gymnopoulos</a:t>
            </a:r>
            <a:r>
              <a:rPr lang="en-US" b="1" dirty="0"/>
              <a:t>, Kosmas Dimitropoulos][2024]</a:t>
            </a:r>
            <a:endParaRPr lang="en-US" dirty="0"/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2000" dirty="0"/>
              <a:t>The paper talks about how Artificial Intelligence (AI) and Machine Learning (ML) are used to create personalized diet and nutrition plans for people.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2000" dirty="0"/>
              <a:t>It reviews 67 studies (from 2021–2024) that use smart apps, sensors, and devices to collect health data and give customized food suggestions.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2000" dirty="0"/>
              <a:t>The study shows that AI-based diet systems can help people eat healthier but also mentions there are still challenges to improve accuracy and data privacy.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F4C37-3676-BB9E-21D7-A455EC3B0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C4166B-1F2F-0446-3ABE-3D5631DF841B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CDA0-29FA-4282-4996-CF7DF0EE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8D32-7591-A2AA-5F50-9A27D99C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/>
          <a:lstStyle/>
          <a:p>
            <a:r>
              <a:rPr lang="en-US" b="1" dirty="0"/>
              <a:t>Gaps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D1F2D-3B4B-B3B0-E6F9-E22E371A8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/>
              <a:t>Lack of Personalization: </a:t>
            </a:r>
            <a:r>
              <a:rPr lang="en-US" sz="2400" dirty="0"/>
              <a:t>Most diet plans available online are </a:t>
            </a:r>
            <a:r>
              <a:rPr lang="en-US" sz="2400" b="1" dirty="0"/>
              <a:t>general</a:t>
            </a:r>
            <a:r>
              <a:rPr lang="en-US" sz="2400" dirty="0"/>
              <a:t> and do not consider a person’s unique body type, BMI, or health condition.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/>
              <a:t>Limited Awareness: </a:t>
            </a:r>
            <a:r>
              <a:rPr lang="en-US" sz="2400" dirty="0"/>
              <a:t>Many people are </a:t>
            </a:r>
            <a:r>
              <a:rPr lang="en-US" sz="2400" b="1" dirty="0"/>
              <a:t>unaware of how their health parameters</a:t>
            </a:r>
            <a:r>
              <a:rPr lang="en-US" sz="2400" dirty="0"/>
              <a:t> (like glucose or cholesterol levels) affect their diet choices.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b="1" dirty="0"/>
              <a:t>Missing Use of AI: </a:t>
            </a:r>
            <a:r>
              <a:rPr lang="en-US" sz="2400" dirty="0"/>
              <a:t>There are very limited number </a:t>
            </a:r>
            <a:r>
              <a:rPr lang="en-US" sz="2400" b="1" dirty="0"/>
              <a:t>of AI-based systems</a:t>
            </a:r>
            <a:r>
              <a:rPr lang="en-US" sz="2400" dirty="0"/>
              <a:t> that automatically analyze health data and give personalized diet recommendations.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E107B-B3B0-BBA4-2C45-9B182500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BBBC77-9FC9-D482-63DD-6B58F3316DAB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45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0235-2264-5E8A-AC1E-EF12DC48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4961-7F6A-B5F6-E6DF-06094772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>
            <a:normAutofit/>
          </a:bodyPr>
          <a:lstStyle/>
          <a:p>
            <a:r>
              <a:rPr lang="en-US" sz="4400" b="1" dirty="0"/>
              <a:t>Methodology</a:t>
            </a:r>
            <a:br>
              <a:rPr lang="en-US" b="1" dirty="0"/>
            </a:br>
            <a:r>
              <a:rPr lang="en-US" sz="2000" b="1" dirty="0"/>
              <a:t>Data Preparation &amp; Preprocessing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57E9-A044-F458-F0C5-F1FA9A768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0" y="1927536"/>
            <a:ext cx="5029200" cy="4023360"/>
          </a:xfrm>
        </p:spPr>
        <p:txBody>
          <a:bodyPr>
            <a:normAutofit/>
          </a:bodyPr>
          <a:lstStyle/>
          <a:p>
            <a:pPr marL="726948" lvl="2" indent="-342900" algn="just">
              <a:buFont typeface="+mj-lt"/>
              <a:buAutoNum type="arabicPeriod" startAt="3"/>
            </a:pPr>
            <a:r>
              <a:rPr lang="en-US" sz="2000" b="1" dirty="0"/>
              <a:t>Feature Engineering &amp; Selection:</a:t>
            </a:r>
          </a:p>
          <a:p>
            <a:pPr lvl="3" algn="just"/>
            <a:r>
              <a:rPr lang="en-US" sz="2000" dirty="0"/>
              <a:t>Identified input features:</a:t>
            </a:r>
          </a:p>
          <a:p>
            <a:pPr lvl="4" algn="just"/>
            <a:r>
              <a:rPr lang="en-US" sz="2000" dirty="0"/>
              <a:t>Weight, Height, Age, Disease Type, Gender, Physical Activity Level</a:t>
            </a:r>
            <a:endParaRPr lang="en-US" sz="2000" b="1" dirty="0"/>
          </a:p>
          <a:p>
            <a:pPr lvl="3" algn="just"/>
            <a:r>
              <a:rPr lang="en-US" sz="2000" dirty="0"/>
              <a:t>Extracted target variable: </a:t>
            </a:r>
            <a:r>
              <a:rPr lang="en-US" sz="2000" b="1" dirty="0"/>
              <a:t>Caloric Requirement.</a:t>
            </a:r>
          </a:p>
          <a:p>
            <a:pPr lvl="3" algn="just"/>
            <a:r>
              <a:rPr lang="en-US" sz="2000" dirty="0"/>
              <a:t>Separated numerical &amp; categorical features for preprocessing.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AF7FA-43AD-5C3E-A696-8C09BCC4D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0D3B7-DB00-0369-8EBA-851D4F406040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D7D1DE-8089-8739-4DD6-0589ABF00A75}"/>
              </a:ext>
            </a:extLst>
          </p:cNvPr>
          <p:cNvSpPr txBox="1">
            <a:spLocks/>
          </p:cNvSpPr>
          <p:nvPr/>
        </p:nvSpPr>
        <p:spPr>
          <a:xfrm>
            <a:off x="1097280" y="1927536"/>
            <a:ext cx="50292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48" lvl="2" indent="-342900" algn="just">
              <a:buAutoNum type="arabicPeriod"/>
            </a:pPr>
            <a:r>
              <a:rPr lang="en-US" sz="2000" b="1" dirty="0"/>
              <a:t>Dataset Collection &amp; Loading:</a:t>
            </a:r>
          </a:p>
          <a:p>
            <a:pPr lvl="3" algn="just"/>
            <a:r>
              <a:rPr lang="en-US" sz="2000" dirty="0"/>
              <a:t>Imported the </a:t>
            </a:r>
            <a:r>
              <a:rPr lang="en-US" sz="2000" b="1" i="1" dirty="0"/>
              <a:t>Diet Recommendations Dataset</a:t>
            </a:r>
            <a:r>
              <a:rPr lang="en-US" sz="2000" dirty="0"/>
              <a:t> containing </a:t>
            </a:r>
            <a:r>
              <a:rPr lang="en-US" sz="2000" b="1" dirty="0"/>
              <a:t>weight</a:t>
            </a:r>
            <a:r>
              <a:rPr lang="en-US" sz="2000" dirty="0"/>
              <a:t>, </a:t>
            </a:r>
            <a:r>
              <a:rPr lang="en-US" sz="2000" b="1" dirty="0"/>
              <a:t>height</a:t>
            </a:r>
            <a:r>
              <a:rPr lang="en-US" sz="2000" dirty="0"/>
              <a:t>, </a:t>
            </a:r>
            <a:r>
              <a:rPr lang="en-US" sz="2000" b="1" dirty="0"/>
              <a:t>disease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, </a:t>
            </a:r>
            <a:r>
              <a:rPr lang="en-US" sz="2000" b="1" dirty="0"/>
              <a:t>age</a:t>
            </a:r>
            <a:r>
              <a:rPr lang="en-US" sz="2000" dirty="0"/>
              <a:t>, </a:t>
            </a:r>
            <a:r>
              <a:rPr lang="en-US" sz="2000" b="1" dirty="0"/>
              <a:t>gender</a:t>
            </a:r>
            <a:r>
              <a:rPr lang="en-US" sz="2000" dirty="0"/>
              <a:t>, and </a:t>
            </a:r>
            <a:r>
              <a:rPr lang="en-US" sz="2000" b="1" dirty="0"/>
              <a:t>activity</a:t>
            </a:r>
            <a:r>
              <a:rPr lang="en-US" sz="2000" dirty="0"/>
              <a:t> </a:t>
            </a:r>
            <a:r>
              <a:rPr lang="en-US" sz="2000" b="1" dirty="0"/>
              <a:t>level</a:t>
            </a:r>
            <a:r>
              <a:rPr lang="en-US" sz="2000" dirty="0"/>
              <a:t>.</a:t>
            </a:r>
            <a:endParaRPr lang="en-US" sz="2000" b="1" dirty="0"/>
          </a:p>
          <a:p>
            <a:pPr marL="726948" lvl="2" indent="-342900" algn="just">
              <a:buAutoNum type="arabicPeriod"/>
            </a:pPr>
            <a:r>
              <a:rPr lang="en-US" sz="2000" b="1" dirty="0"/>
              <a:t>Data Cleaning:</a:t>
            </a:r>
          </a:p>
          <a:p>
            <a:pPr lvl="3" algn="just"/>
            <a:r>
              <a:rPr lang="en-US" sz="2000" dirty="0"/>
              <a:t>Handled missing values using </a:t>
            </a:r>
            <a:r>
              <a:rPr lang="en-US" sz="2000" b="1" dirty="0" err="1"/>
              <a:t>SimpleImputer</a:t>
            </a:r>
            <a:r>
              <a:rPr lang="en-US" sz="2000" dirty="0"/>
              <a:t> (median for numeric, most frequent for categorical).</a:t>
            </a:r>
          </a:p>
          <a:p>
            <a:pPr lvl="3" algn="just"/>
            <a:r>
              <a:rPr lang="en-US" sz="2000" dirty="0"/>
              <a:t>Removed inconsistencies and standardized feature naming.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0222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DDCE9-BAF0-3444-5960-37898A55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9F7D-B66A-1FBF-2D68-C2C9DEB9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>
            <a:normAutofit/>
          </a:bodyPr>
          <a:lstStyle/>
          <a:p>
            <a:r>
              <a:rPr lang="en-US" sz="4400" b="1" dirty="0"/>
              <a:t>Methodology</a:t>
            </a:r>
            <a:br>
              <a:rPr lang="en-US" b="1" dirty="0"/>
            </a:br>
            <a:r>
              <a:rPr lang="en-US" sz="2000" b="1" dirty="0"/>
              <a:t>Model Development &amp; Training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F515-4756-2AAA-0859-BF3236312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0" y="1927536"/>
            <a:ext cx="4998720" cy="4023360"/>
          </a:xfrm>
        </p:spPr>
        <p:txBody>
          <a:bodyPr>
            <a:normAutofit/>
          </a:bodyPr>
          <a:lstStyle/>
          <a:p>
            <a:pPr marL="726948" lvl="2" indent="-342900" algn="just">
              <a:buFont typeface="+mj-lt"/>
              <a:buAutoNum type="arabicPeriod" startAt="3"/>
            </a:pPr>
            <a:r>
              <a:rPr lang="en-US" sz="2000" b="1" dirty="0"/>
              <a:t>Model Training:</a:t>
            </a:r>
          </a:p>
          <a:p>
            <a:pPr lvl="3" algn="just"/>
            <a:r>
              <a:rPr lang="en-US" sz="2000" dirty="0"/>
              <a:t>Applied </a:t>
            </a:r>
            <a:r>
              <a:rPr lang="en-US" sz="2000" b="1" dirty="0"/>
              <a:t>Train-Test Split (80/20)</a:t>
            </a:r>
          </a:p>
          <a:p>
            <a:pPr lvl="3" algn="just"/>
            <a:r>
              <a:rPr lang="en-US" sz="2000" dirty="0"/>
              <a:t>Trained model inside a unified </a:t>
            </a:r>
            <a:r>
              <a:rPr lang="en-US" sz="2000" b="1" dirty="0"/>
              <a:t>Scikit-Learn Pipeline</a:t>
            </a:r>
            <a:r>
              <a:rPr lang="en-US" sz="2000" dirty="0"/>
              <a:t>.</a:t>
            </a:r>
          </a:p>
          <a:p>
            <a:pPr lvl="3" algn="just"/>
            <a:r>
              <a:rPr lang="en-US" sz="2000" dirty="0"/>
              <a:t>Evaluated using:</a:t>
            </a:r>
          </a:p>
          <a:p>
            <a:pPr lvl="4" algn="just"/>
            <a:r>
              <a:rPr lang="en-US" sz="2000" dirty="0"/>
              <a:t>MAE [Mean Absolute Error]</a:t>
            </a:r>
          </a:p>
          <a:p>
            <a:pPr lvl="4" algn="just"/>
            <a:r>
              <a:rPr lang="en-US" sz="2000" dirty="0"/>
              <a:t>RMSE [Root Mean Squared Error]</a:t>
            </a:r>
          </a:p>
          <a:p>
            <a:pPr lvl="4" algn="just"/>
            <a:r>
              <a:rPr lang="en-US" sz="2000" dirty="0"/>
              <a:t>R² Score [Coefficient of Determination]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DF176-4AF4-C332-EBBC-1EBD7DF2B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54FDA1-3627-B906-41A8-7828EEB3D20A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EDF620-0AFF-ACEB-BB15-00EB22C56E51}"/>
              </a:ext>
            </a:extLst>
          </p:cNvPr>
          <p:cNvSpPr txBox="1">
            <a:spLocks/>
          </p:cNvSpPr>
          <p:nvPr/>
        </p:nvSpPr>
        <p:spPr>
          <a:xfrm>
            <a:off x="1097280" y="1927536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48" lvl="2" indent="-342900" algn="just">
              <a:buFont typeface="Calibri" pitchFamily="34" charset="0"/>
              <a:buAutoNum type="arabicPeriod"/>
            </a:pPr>
            <a:r>
              <a:rPr lang="en-US" sz="2000" b="1" dirty="0"/>
              <a:t>Preprocessing Pipelines:</a:t>
            </a:r>
          </a:p>
          <a:p>
            <a:pPr lvl="3" algn="just"/>
            <a:r>
              <a:rPr lang="it-IT" sz="2000" b="1" dirty="0"/>
              <a:t>Numerical Pipeline:</a:t>
            </a:r>
            <a:r>
              <a:rPr lang="it-IT" sz="2000" dirty="0"/>
              <a:t> Scaling + Median imputation</a:t>
            </a:r>
          </a:p>
          <a:p>
            <a:pPr lvl="3" algn="just"/>
            <a:r>
              <a:rPr lang="en-US" sz="2000" b="1" dirty="0"/>
              <a:t>Categorical Pipeline:</a:t>
            </a:r>
            <a:r>
              <a:rPr lang="en-US" sz="2000" dirty="0"/>
              <a:t> One-Hot Encoding + Mode imputation</a:t>
            </a:r>
          </a:p>
          <a:p>
            <a:pPr lvl="3" algn="just"/>
            <a:r>
              <a:rPr lang="en-US" sz="2000" dirty="0"/>
              <a:t>Combined using </a:t>
            </a:r>
            <a:r>
              <a:rPr lang="en-US" sz="2000" b="1" dirty="0" err="1"/>
              <a:t>ColumnTransformer</a:t>
            </a:r>
            <a:r>
              <a:rPr lang="en-US" sz="2000" dirty="0"/>
              <a:t>.</a:t>
            </a:r>
            <a:endParaRPr lang="en-US" sz="2000" b="1" dirty="0"/>
          </a:p>
          <a:p>
            <a:pPr marL="726948" lvl="2" indent="-342900" algn="just">
              <a:buFont typeface="Calibri" pitchFamily="34" charset="0"/>
              <a:buAutoNum type="arabicPeriod"/>
            </a:pPr>
            <a:r>
              <a:rPr lang="en-US" sz="2000" b="1" dirty="0"/>
              <a:t>Model Selection:</a:t>
            </a:r>
          </a:p>
          <a:p>
            <a:pPr lvl="3" algn="just"/>
            <a:r>
              <a:rPr lang="en-US" sz="2000" dirty="0"/>
              <a:t>Chose </a:t>
            </a:r>
            <a:r>
              <a:rPr lang="en-US" sz="2000" b="1" dirty="0"/>
              <a:t>Random Forest Regressor</a:t>
            </a:r>
            <a:r>
              <a:rPr lang="en-US" sz="2000" dirty="0"/>
              <a:t> due to:</a:t>
            </a:r>
          </a:p>
          <a:p>
            <a:pPr lvl="4" algn="just"/>
            <a:r>
              <a:rPr lang="en-US" sz="2000" dirty="0"/>
              <a:t>High accuracy for non-linear relationships</a:t>
            </a:r>
          </a:p>
          <a:p>
            <a:pPr lvl="4" algn="just"/>
            <a:r>
              <a:rPr lang="en-US" sz="2000" dirty="0"/>
              <a:t>Robustness against outliers</a:t>
            </a:r>
          </a:p>
          <a:p>
            <a:pPr lvl="4" algn="just"/>
            <a:r>
              <a:rPr lang="en-US" sz="2000" dirty="0"/>
              <a:t>Performs well with mixed data types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1669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B76B6-FA01-03E1-F3AC-21EC8472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D16F-1F17-92F6-D714-3C3A97AE4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>
            <a:normAutofit/>
          </a:bodyPr>
          <a:lstStyle/>
          <a:p>
            <a:r>
              <a:rPr lang="en-US" sz="4400" b="1" dirty="0"/>
              <a:t>Methodology</a:t>
            </a:r>
            <a:br>
              <a:rPr lang="en-US" b="1" dirty="0"/>
            </a:br>
            <a:r>
              <a:rPr lang="en-US" sz="2000" b="1" dirty="0"/>
              <a:t>System Deployment &amp; User Interface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6727B-5534-3929-4B95-A2C243EF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0" y="1927536"/>
            <a:ext cx="4998720" cy="4023360"/>
          </a:xfrm>
        </p:spPr>
        <p:txBody>
          <a:bodyPr>
            <a:normAutofit/>
          </a:bodyPr>
          <a:lstStyle/>
          <a:p>
            <a:pPr marL="726948" lvl="2" indent="-342900" algn="just">
              <a:buFont typeface="+mj-lt"/>
              <a:buAutoNum type="arabicPeriod" startAt="3"/>
            </a:pPr>
            <a:r>
              <a:rPr lang="en-US" sz="2000" b="1" dirty="0"/>
              <a:t>Final Deployment:</a:t>
            </a:r>
          </a:p>
          <a:p>
            <a:pPr lvl="3"/>
            <a:r>
              <a:rPr lang="en-US" sz="2000" dirty="0"/>
              <a:t>Included feature importance visualization for transparency.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00EDB-837D-74D9-3B9F-0C070DCF3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9E5B3-F5BA-EB7A-FDA7-BF19DB3B4A3B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F8D763-FF1D-23C3-7C78-4166D6A609E0}"/>
              </a:ext>
            </a:extLst>
          </p:cNvPr>
          <p:cNvSpPr txBox="1">
            <a:spLocks/>
          </p:cNvSpPr>
          <p:nvPr/>
        </p:nvSpPr>
        <p:spPr>
          <a:xfrm>
            <a:off x="1097280" y="1927536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6948" lvl="2" indent="-342900" algn="just">
              <a:buFont typeface="Calibri" pitchFamily="34" charset="0"/>
              <a:buAutoNum type="arabicPeriod"/>
            </a:pPr>
            <a:r>
              <a:rPr lang="en-US" sz="2000" b="1" dirty="0"/>
              <a:t>Model Saving:</a:t>
            </a:r>
          </a:p>
          <a:p>
            <a:pPr lvl="3" algn="just"/>
            <a:r>
              <a:rPr lang="en-US" sz="2000" dirty="0"/>
              <a:t>Exported trained model using </a:t>
            </a:r>
            <a:r>
              <a:rPr lang="en-US" sz="2000" b="1" dirty="0" err="1"/>
              <a:t>Joblib</a:t>
            </a:r>
            <a:r>
              <a:rPr lang="en-US" sz="2000" dirty="0"/>
              <a:t> (</a:t>
            </a:r>
            <a:r>
              <a:rPr lang="en-US" sz="2000" dirty="0" err="1"/>
              <a:t>diet_pipeline.pkl</a:t>
            </a:r>
            <a:r>
              <a:rPr lang="en-US" sz="2000" dirty="0"/>
              <a:t>).</a:t>
            </a:r>
            <a:endParaRPr lang="en-US" sz="2000" b="1" dirty="0"/>
          </a:p>
          <a:p>
            <a:pPr marL="726948" lvl="2" indent="-342900" algn="just">
              <a:buFont typeface="Calibri" pitchFamily="34" charset="0"/>
              <a:buAutoNum type="arabicPeriod"/>
            </a:pPr>
            <a:r>
              <a:rPr lang="en-US" sz="2000" b="1" dirty="0" err="1"/>
              <a:t>Gradio</a:t>
            </a:r>
            <a:r>
              <a:rPr lang="en-US" sz="2000" b="1" dirty="0"/>
              <a:t> Web Application:</a:t>
            </a:r>
          </a:p>
          <a:p>
            <a:pPr lvl="3" algn="just"/>
            <a:r>
              <a:rPr lang="en-US" sz="2000" dirty="0"/>
              <a:t>Built a user-friendly interface using </a:t>
            </a:r>
            <a:r>
              <a:rPr lang="en-US" sz="2000" b="1" dirty="0" err="1"/>
              <a:t>Gradio</a:t>
            </a:r>
            <a:r>
              <a:rPr lang="en-US" sz="2000" dirty="0"/>
              <a:t>.</a:t>
            </a:r>
            <a:endParaRPr lang="en-US" sz="2000" b="1" dirty="0"/>
          </a:p>
          <a:p>
            <a:pPr lvl="4" algn="just"/>
            <a:r>
              <a:rPr lang="en-US" sz="2000" b="1" dirty="0"/>
              <a:t>Inputs:</a:t>
            </a:r>
          </a:p>
          <a:p>
            <a:pPr lvl="5" algn="just"/>
            <a:r>
              <a:rPr lang="en-US" sz="2000" dirty="0"/>
              <a:t>Weight, Height, Age, Gender, Disease Type, Activity Level.</a:t>
            </a:r>
            <a:endParaRPr lang="en-US" sz="2000" b="1" dirty="0"/>
          </a:p>
          <a:p>
            <a:pPr lvl="4" algn="just"/>
            <a:r>
              <a:rPr lang="en-US" sz="2000" b="1" dirty="0"/>
              <a:t>Output:</a:t>
            </a:r>
          </a:p>
          <a:p>
            <a:pPr lvl="5" algn="just"/>
            <a:r>
              <a:rPr lang="en-US" sz="2000" dirty="0"/>
              <a:t>Predicted Daily Calorie Requirement</a:t>
            </a:r>
          </a:p>
          <a:p>
            <a:pPr lvl="5" algn="just"/>
            <a:r>
              <a:rPr lang="en-US" sz="2000" dirty="0"/>
              <a:t>Calculated BMI</a:t>
            </a:r>
          </a:p>
          <a:p>
            <a:pPr lvl="5" algn="just"/>
            <a:r>
              <a:rPr lang="en-US" sz="2000" dirty="0"/>
              <a:t>Personalized Health Tips</a:t>
            </a:r>
          </a:p>
        </p:txBody>
      </p:sp>
    </p:spTree>
    <p:extLst>
      <p:ext uri="{BB962C8B-B14F-4D97-AF65-F5344CB8AC3E}">
        <p14:creationId xmlns:p14="http://schemas.microsoft.com/office/powerpoint/2010/main" val="1715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5D96-8E1E-2D86-E8D1-FE33EF34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2289-D3F5-AD06-5BE5-BB647884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>
            <a:normAutofit/>
          </a:bodyPr>
          <a:lstStyle/>
          <a:p>
            <a:r>
              <a:rPr lang="en-US" b="1" dirty="0"/>
              <a:t>RMSE, MAE &amp; R2 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D5CFC-7DD0-29D7-7BE1-E366F56B0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7A48AA-0241-17D1-8B35-F227E76F1618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EC2846-0AE1-A692-FDAE-D0733AABB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264737"/>
              </p:ext>
            </p:extLst>
          </p:nvPr>
        </p:nvGraphicFramePr>
        <p:xfrm>
          <a:off x="2032000" y="28727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101744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22952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26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515.485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833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603.327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33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42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70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A1EF-51A0-D53F-1FF2-EA0EA7C3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36AC-4CBF-73CA-37CD-750D1E64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>
            <a:normAutofit/>
          </a:bodyPr>
          <a:lstStyle/>
          <a:p>
            <a:r>
              <a:rPr lang="en-US" b="1" dirty="0"/>
              <a:t>Feature Importance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C5B09-5B89-0CC4-E4B0-F1842FEAB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6D515F-101A-31A8-E8ED-0EF5782B2CC2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669C38-281B-A261-436B-3FF45FBE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760" y="1854541"/>
            <a:ext cx="8981440" cy="415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818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F56F-8780-8834-2D94-A28DE22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FA24-9A91-E6B4-7713-CA9F5549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8006"/>
            <a:ext cx="10058400" cy="1026548"/>
          </a:xfrm>
        </p:spPr>
        <p:txBody>
          <a:bodyPr/>
          <a:lstStyle/>
          <a:p>
            <a:r>
              <a:rPr lang="en-US" b="1" dirty="0"/>
              <a:t>Technical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3AEA-D872-B39C-C09B-940B5DB1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Building a preprocessing pipeline that could impute missing values, scale numeric data, and one-hot encode categories correctly — without data leakage — required careful engineering using </a:t>
            </a:r>
            <a:r>
              <a:rPr lang="en-US" sz="2400" b="1" dirty="0" err="1"/>
              <a:t>ColumnTransformer</a:t>
            </a:r>
            <a:r>
              <a:rPr lang="en-US" sz="2400" dirty="0"/>
              <a:t> and </a:t>
            </a:r>
            <a:r>
              <a:rPr lang="en-US" sz="2400" b="1" dirty="0"/>
              <a:t>Pipeline</a:t>
            </a:r>
            <a:r>
              <a:rPr lang="en-US" sz="2400" dirty="0"/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To identify the most important features that have the greatest impact on the predicted calorie value.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88237-47C8-A604-ECE1-09D5D6AE4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0C3A43-04EE-CA65-C696-9C7B1DDA5160}"/>
              </a:ext>
            </a:extLst>
          </p:cNvPr>
          <p:cNvSpPr txBox="1"/>
          <p:nvPr/>
        </p:nvSpPr>
        <p:spPr>
          <a:xfrm>
            <a:off x="609601" y="6410330"/>
            <a:ext cx="11033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Megh Patel &amp; Konark Karia													Diet Planner Based on BMI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13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949D-3140-FBA1-0EAC-EBC05EFBC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C24DF-185B-EDD5-D1ED-64EEDC364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69" y="136549"/>
            <a:ext cx="2674374" cy="116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353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801214"/>
      </a:accent1>
      <a:accent2>
        <a:srgbClr val="801214"/>
      </a:accent2>
      <a:accent3>
        <a:srgbClr val="801214"/>
      </a:accent3>
      <a:accent4>
        <a:srgbClr val="801214"/>
      </a:accent4>
      <a:accent5>
        <a:srgbClr val="801214"/>
      </a:accent5>
      <a:accent6>
        <a:srgbClr val="801214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432</TotalTime>
  <Words>1043</Words>
  <Application>Microsoft Office PowerPoint</Application>
  <PresentationFormat>Widescreen</PresentationFormat>
  <Paragraphs>106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Retrospect</vt:lpstr>
      <vt:lpstr>Diet Planner Based on BMI</vt:lpstr>
      <vt:lpstr>Project Introduction</vt:lpstr>
      <vt:lpstr>Literature Review</vt:lpstr>
      <vt:lpstr>Literature Review</vt:lpstr>
      <vt:lpstr>Gaps Identified</vt:lpstr>
      <vt:lpstr>Methodology Data Preparation &amp; Preprocessing</vt:lpstr>
      <vt:lpstr>Methodology Model Development &amp; Training</vt:lpstr>
      <vt:lpstr>Methodology System Deployment &amp; User Interface</vt:lpstr>
      <vt:lpstr>RMSE, MAE &amp; R2 Score</vt:lpstr>
      <vt:lpstr>Feature Importance Graph</vt:lpstr>
      <vt:lpstr>Technical 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 Patel</dc:creator>
  <cp:lastModifiedBy>Megh Patel</cp:lastModifiedBy>
  <cp:revision>29</cp:revision>
  <dcterms:created xsi:type="dcterms:W3CDTF">2025-10-09T14:18:32Z</dcterms:created>
  <dcterms:modified xsi:type="dcterms:W3CDTF">2025-11-21T07:39:50Z</dcterms:modified>
</cp:coreProperties>
</file>